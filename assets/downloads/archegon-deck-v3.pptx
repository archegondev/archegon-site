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00" r:id="rId2"/>
    <p:sldId id="32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7" r:id="rId13"/>
    <p:sldId id="319" r:id="rId14"/>
    <p:sldId id="320" r:id="rId15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14" r:id="rId16"/>
    <p:sldId id="31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121" d="100"/>
          <a:sy n="121" d="100"/>
        </p:scale>
        <p:origin x="-66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26.xml"/><Relationship Id="rId17" Type="http://schemas.openxmlformats.org/officeDocument/2006/relationships/slide" Target="slides/slide2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Infrastructure (wells, mob, plant)</c:v>
          </c:tx>
          <c:spPr>
            <a:solidFill>
              <a:srgbClr val="A6A6A6"/>
            </a:solidFill>
            <a:ln>
              <a:noFill/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307-B747-9E9E-D4D3C0E74C32}"/>
                </c:ext>
              </c:extLst>
            </c:dLbl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14171A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AU route</c:v>
              </c:pt>
              <c:pt idx="1">
                <c:v>NZ route</c:v>
              </c:pt>
            </c:strLit>
          </c:cat>
          <c:val>
            <c:numLit>
              <c:formatCode>General</c:formatCode>
              <c:ptCount val="2"/>
              <c:pt idx="0">
                <c:v>108.642001</c:v>
              </c:pt>
              <c:pt idx="1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BB-4049-B285-F005B1B70227}"/>
            </c:ext>
          </c:extLst>
        </c:ser>
        <c:ser>
          <c:idx val="1"/>
          <c:order val="1"/>
          <c:tx>
            <c:v>Compute (shell + liquid cooling)</c:v>
          </c:tx>
          <c:spPr>
            <a:solidFill>
              <a:srgbClr val="0D6B5F"/>
            </a:solidFill>
            <a:ln>
              <a:noFill/>
            </a:ln>
          </c:spPr>
          <c:invertIfNegative val="1"/>
          <c:dLbls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AU route</c:v>
              </c:pt>
              <c:pt idx="1">
                <c:v>NZ route</c:v>
              </c:pt>
            </c:strLit>
          </c:cat>
          <c:val>
            <c:numLit>
              <c:formatCode>General</c:formatCode>
              <c:ptCount val="2"/>
              <c:pt idx="0">
                <c:v>132.336422</c:v>
              </c:pt>
              <c:pt idx="1">
                <c:v>101.797248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BBB-4049-B285-F005B1B70227}"/>
            </c:ext>
          </c:extLst>
        </c:ser>
        <c:ser>
          <c:idx val="2"/>
          <c:order val="2"/>
          <c:tx>
            <c:v>Contingency (25%)</c:v>
          </c:tx>
          <c:spPr>
            <a:solidFill>
              <a:srgbClr val="BFBFBF"/>
            </a:solidFill>
            <a:ln>
              <a:noFill/>
            </a:ln>
          </c:spPr>
          <c:invertIfNegative val="1"/>
          <c:dLbls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>
                    <a:solidFill>
                      <a:srgbClr val="14171A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AU route</c:v>
              </c:pt>
              <c:pt idx="1">
                <c:v>NZ route</c:v>
              </c:pt>
            </c:strLit>
          </c:cat>
          <c:val>
            <c:numLit>
              <c:formatCode>General</c:formatCode>
              <c:ptCount val="2"/>
              <c:pt idx="0">
                <c:v>60.244606</c:v>
              </c:pt>
              <c:pt idx="1">
                <c:v>25.449312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BBB-4049-B285-F005B1B70227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AU route</c:v>
              </c:pt>
              <c:pt idx="1">
                <c:v>NZ route</c:v>
              </c:pt>
            </c:strLit>
          </c:cat>
          <c:val>
            <c:numLit>
              <c:formatCode>General</c:formatCode>
              <c:ptCount val="2"/>
              <c:pt idx="0">
                <c:v>301.22303</c:v>
              </c:pt>
              <c:pt idx="1">
                <c:v>127.24656</c:v>
              </c:pt>
            </c:numLit>
          </c:val>
          <c:extLst>
            <c:ext xmlns:c16="http://schemas.microsoft.com/office/drawing/2014/chart" uri="{C3380CC4-5D6E-409C-BE32-E72D297353CC}">
              <c16:uniqueId val="{00000003-3BBB-4049-B285-F005B1B702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4171A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65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6B7280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9CA3AF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0D6B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E7C-2C4E-8072-3FEA4514C462}"/>
              </c:ext>
            </c:extLst>
          </c:dPt>
          <c:dLbls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4171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AU route capex</c:v>
              </c:pt>
              <c:pt idx="1">
                <c:v>24-month runway</c:v>
              </c:pt>
              <c:pt idx="2">
                <c:v>Derived raise (floor)</c:v>
              </c:pt>
            </c:strLit>
          </c:cat>
          <c:val>
            <c:numLit>
              <c:formatCode>General</c:formatCode>
              <c:ptCount val="3"/>
              <c:pt idx="0">
                <c:v>301.22303</c:v>
              </c:pt>
              <c:pt idx="1">
                <c:v>6.0</c:v>
              </c:pt>
              <c:pt idx="2">
                <c:v>307.22303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E7C-2C4E-8072-3FEA4514C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4171A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9CA3AF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0D6B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44A-7348-B753-EE2796E071C7}"/>
              </c:ext>
            </c:extLst>
          </c:dPt>
          <c:dLbls>
            <c:numFmt formatCode="&quot;A$&quot;#,##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4171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COLO revenue</c:v>
              </c:pt>
              <c:pt idx="1">
                <c:v>Opex (plant O&amp;M + team)</c:v>
              </c:pt>
              <c:pt idx="2">
                <c:v>Contribution</c:v>
              </c:pt>
            </c:strLit>
          </c:cat>
          <c:val>
            <c:numLit>
              <c:formatCode>General</c:formatCode>
              <c:ptCount val="3"/>
              <c:pt idx="0">
                <c:v>14.532435</c:v>
              </c:pt>
              <c:pt idx="1">
                <c:v>4.468455</c:v>
              </c:pt>
              <c:pt idx="2">
                <c:v>10.06398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44A-7348-B753-EE2796E07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4171A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7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</a:rPr>
              <a:t>Bringing compute to the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ARCHEGON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71A"/>
                </a:solidFill>
              </a:rPr>
              <a:t>A zero-start proof of geothermal-powered AI compute in Australia and/or New Zealand.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280"/>
                </a:solidFill>
              </a:rPr>
              <a:t>Draft for discussion · not an offer · not a priced 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34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171A"/>
                </a:solidFill>
              </a:rPr>
              <a:t>Not a priced 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4343400"/>
            <a:ext cx="2468880" cy="347472"/>
          </a:xfrm>
          <a:prstGeom prst="roundRect">
            <a:avLst>
              <a:gd name="adj" fmla="val 8000"/>
            </a:avLst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43434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</a:rPr>
              <a:t>AU and/or NZ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34340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4343400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6B5F"/>
                </a:solidFill>
              </a:rPr>
              <a:t>PoC · zero-start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D6B5F"/>
                </a:solidFill>
              </a:rPr>
              <a:t>archegon.com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 / 27</a:t>
            </a:r>
          </a:p>
        </p:txBody>
      </p:sp>
    </p:spTree>
    <p:extLst>
      <p:ext uri="{BB962C8B-B14F-4D97-AF65-F5344CB8AC3E}">
        <p14:creationId xmlns:p14="http://schemas.microsoft.com/office/powerpoint/2010/main" val="311518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The right physics, the wrong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Why a century of proven physics has produced so little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97280"/>
            <a:ext cx="11430000" cy="23317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34440"/>
            <a:ext cx="11064240" cy="205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71A"/>
                </a:solidFill>
              </a:rPr>
              <a:t>Geothermal is the only renewable that matches a 24/7 AI load — available around the clock and carbon-free; firm supply to an islanded load still needs N-1 redundancy and backup (slide 17). </a:t>
            </a:r>
            <a:r>
              <a:rPr sz="1600" b="1" i="0">
                <a:solidFill>
                  <a:srgbClr val="14171A"/>
                </a:solidFill>
              </a:rPr>
              <a:t>It has never scaled because the geology had to be found, not built.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</a:rPr>
              <a:t>Heat, water and permeable rock had to coincide naturally, and that coincidence is a rounding error in global generation. Fervo's claim is that it can be engineered instead of located.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657600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822191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B5F"/>
                </a:solidFill>
              </a:rPr>
              <a:t>World geothermal at year-end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148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171A"/>
                </a:solidFill>
              </a:rPr>
              <a:t>17,173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VERIFIED · fervo-egs-tech-56 · ThinkGeoEnergy YE2025. The geographic constraint Fervo claims to engineer around.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 / 27</a:t>
            </a:r>
          </a:p>
        </p:txBody>
      </p:sp>
    </p:spTree>
    <p:extLst>
      <p:ext uri="{BB962C8B-B14F-4D97-AF65-F5344CB8AC3E}">
        <p14:creationId xmlns:p14="http://schemas.microsoft.com/office/powerpoint/2010/main" val="87480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Fervo made permeability a manufacturing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Four moves that make permeability a design choice rather than a site accident.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15568"/>
            <a:ext cx="5623560" cy="242316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115568"/>
            <a:ext cx="91440" cy="242316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01  Horizontal laterals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Sawtooth 7: 7,500 ft / 2,286 m through the hot zone. Rock contacted per well becomes a design choice, not a luck draw.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115568"/>
            <a:ext cx="5623560" cy="242316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115568"/>
            <a:ext cx="91440" cy="242316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02  Multi-stage frac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09928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The lateral is isolated and stimulated in sequence. Permeability is engineered in. It aims to remove the geographic constraint; unproven in Cooper Basin geology, where Habanero's permeability was one sub-horizontal thrust 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03320"/>
            <a:ext cx="5623560" cy="242316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3703320"/>
            <a:ext cx="91440" cy="2423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67911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D28D9"/>
                </a:solidFill>
              </a:rPr>
              <a:t>03  DAS / DTS fibre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Distributed acoustic and temperature sensing along the whole lateral. Reservoir management becomes measurement, which is what makes a learning curve possible.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703320"/>
            <a:ext cx="5623560" cy="2423160"/>
          </a:xfrm>
          <a:prstGeom prst="roundRect">
            <a:avLst>
              <a:gd name="adj" fmla="val 8000"/>
            </a:avLst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3703320"/>
            <a:ext cx="91440" cy="2423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1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309"/>
                </a:solidFill>
              </a:rPr>
              <a:t>04  Doublet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Injector and producer as a closed circulation loop into an ORC binary plant. Fluid is recirculated; some is lost to the formation, so make-up water is needed.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3 / 27</a:t>
            </a:r>
          </a:p>
        </p:txBody>
      </p:sp>
    </p:spTree>
    <p:extLst>
      <p:ext uri="{BB962C8B-B14F-4D97-AF65-F5344CB8AC3E}">
        <p14:creationId xmlns:p14="http://schemas.microsoft.com/office/powerpoint/2010/main" val="345054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Cape Station cut well cost from US$9.4m to US$4.8m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US$/ft and days, eight wells. Source reports a 35% learning rate vs 18% planned; the cost endpoints alone imply ~20% per doubling.</a:t>
            </a:r>
          </a:p>
        </p:txBody>
      </p:sp>
      <p:pic>
        <p:nvPicPr>
          <p:cNvPr id="7" name="Picture 6" descr="01-drilling-learning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927" y="1024128"/>
            <a:ext cx="769138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6144768"/>
            <a:ext cx="11430000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US$9.4m → US$4.8m over eight wells is three doublings, ~20% per doubling of well count (geothermal-capex-01). The 35% vs 18% is the source's own metric (geothermal-capex-03), not well cost. Our model uses none of this; the only Cooper Basin record ran the other way (A$11.40m → A$50.85m, slide 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4 / 27</a:t>
            </a:r>
          </a:p>
        </p:txBody>
      </p:sp>
    </p:spTree>
    <p:extLst>
      <p:ext uri="{BB962C8B-B14F-4D97-AF65-F5344CB8AC3E}">
        <p14:creationId xmlns:p14="http://schemas.microsoft.com/office/powerpoint/2010/main" val="51866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Underwrite 1.4 MWe net sustained, not 3.5 MWe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Peak is not the number a diligence team will underwrite.</a:t>
            </a:r>
          </a:p>
        </p:txBody>
      </p:sp>
      <p:pic>
        <p:nvPicPr>
          <p:cNvPr id="7" name="Picture 6" descr="03-peak-vs-sust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12390"/>
            <a:ext cx="7818120" cy="41349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115568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280160"/>
            <a:ext cx="3291840" cy="4617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1C1C"/>
                </a:solidFill>
              </a:rPr>
              <a:t>Project Red, step by step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4171A"/>
                </a:solidFill>
              </a:rPr>
              <a:t>3.5 MWe peak (calculated, not metered)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4171A"/>
                </a:solidFill>
              </a:rPr>
              <a:t>→ 2.1 MW gross sustained (614+ days)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14171A"/>
                </a:solidFill>
              </a:rPr>
              <a:t>− 0.7 MW parasitic (pumping) = 1.4 MW net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171A"/>
                </a:solidFill>
              </a:rPr>
              <a:t>Our BASE 5 MWe net per producer is an ASSUMPTION 3.6× this. Habanero's best sustained loop (19 kg/s) ≈ 1.0–1.5 MWe net. Flow basis: slide 16. Decline analogue: Soultz (ORC since 2008).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5 / 27</a:t>
            </a:r>
          </a:p>
        </p:txBody>
      </p:sp>
    </p:spTree>
    <p:extLst>
      <p:ext uri="{BB962C8B-B14F-4D97-AF65-F5344CB8AC3E}">
        <p14:creationId xmlns:p14="http://schemas.microsoft.com/office/powerpoint/2010/main" val="23357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Habanero cost 2.4× Fervo's first-project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One currency, model FX 0.7122. Each Fervo figure is on its own basis: overnight, all-in expected, target. Not one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078992"/>
            <a:ext cx="3566160" cy="501091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0768" y="1225296"/>
            <a:ext cx="3255264" cy="4754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D6B5F"/>
                </a:solidFill>
              </a:rPr>
              <a:t>33 MW net, operating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4171A"/>
                </a:solidFill>
              </a:rPr>
              <a:t>Cape Station GeoBlock 1 reached commercial operation on 30 Sep 2026, selling under its PPA.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D6B5F"/>
                </a:solidFill>
              </a:rPr>
              <a:t>7,000 · 5,500 · 3,000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4171A"/>
                </a:solidFill>
              </a:rPr>
              <a:t>US$/kW: overnight, first project (S-1/A, 4 May 2026) · Phase II all-in expected (12 Aug 2026) · long-term target. Company guidance, not as-built.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B91C1C"/>
                </a:solidFill>
              </a:rPr>
              <a:t>2.4×  US$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4171A"/>
                </a:solidFill>
              </a:rPr>
              <a:t>Habanero A$23,600/kW → US$16,808/kW at 0.7122 (nominal, unescalated).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6 / 27</a:t>
            </a:r>
          </a:p>
        </p:txBody>
      </p:sp>
      <p:pic>
        <p:nvPicPr>
          <p:cNvPr id="13" name="Picture 12" descr="slide6-capex-per-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74" y="1024128"/>
            <a:ext cx="7300994" cy="319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36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Habanero failed on market access and 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Geodynamics wells A$11.40m → A$50.85m. Co-location fixes the first failure; Fervo toolkit is the claim on the second.</a:t>
            </a:r>
          </a:p>
        </p:txBody>
      </p:sp>
      <p:pic>
        <p:nvPicPr>
          <p:cNvPr id="7" name="Picture 6" descr="02-anti-learning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283" y="1024128"/>
            <a:ext cx="7162096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" y="5029200"/>
            <a:ext cx="5623560" cy="1389888"/>
          </a:xfrm>
          <a:prstGeom prst="roundRect">
            <a:avLst>
              <a:gd name="adj" fmla="val 8000"/>
            </a:avLst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5138928"/>
            <a:ext cx="5349240" cy="1188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45309"/>
                </a:solidFill>
              </a:rPr>
              <a:t>Market access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Lost the co-located heat customer; transmission uneconomic. Co-location of the AI load is the claim on this half.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29200"/>
            <a:ext cx="5623560" cy="1389888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8504" y="5138928"/>
            <a:ext cx="5349240" cy="11887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91C1C"/>
                </a:solidFill>
              </a:rPr>
              <a:t>Flow / cost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Reservoir and well-cost performance were also disappointing. The Fervo toolkit is the claim on this half — a claim, not a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7 / 27</a:t>
            </a:r>
          </a:p>
        </p:txBody>
      </p:sp>
    </p:spTree>
    <p:extLst>
      <p:ext uri="{BB962C8B-B14F-4D97-AF65-F5344CB8AC3E}">
        <p14:creationId xmlns:p14="http://schemas.microsoft.com/office/powerpoint/2010/main" val="132866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Australia drills. New Zealand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AU = Cooper Basin hot dry rock. NZ = already-producing TVZ. Do not blend.</a:t>
            </a:r>
          </a:p>
        </p:txBody>
      </p:sp>
      <p:pic>
        <p:nvPicPr>
          <p:cNvPr id="7" name="Picture 6" descr="10-au-vs-nz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872" y="1078992"/>
            <a:ext cx="6901774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8 / 27</a:t>
            </a:r>
          </a:p>
        </p:txBody>
      </p:sp>
    </p:spTree>
    <p:extLst>
      <p:ext uri="{BB962C8B-B14F-4D97-AF65-F5344CB8AC3E}">
        <p14:creationId xmlns:p14="http://schemas.microsoft.com/office/powerpoint/2010/main" val="178856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NZ is an option, not a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Pipeline is real and slow. First generation targeted 2030. Attributes are not electrons.</a:t>
            </a:r>
          </a:p>
        </p:txBody>
      </p:sp>
      <p:pic>
        <p:nvPicPr>
          <p:cNvPr id="7" name="Picture 6" descr="09-nz-deal-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0" y="1024128"/>
            <a:ext cx="7048263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078992"/>
            <a:ext cx="3657600" cy="4096512"/>
          </a:xfrm>
          <a:prstGeom prst="roundRect">
            <a:avLst>
              <a:gd name="adj" fmla="val 8000"/>
            </a:avLst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9327" y="1207008"/>
            <a:ext cx="3364992" cy="3840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D4ED8"/>
                </a:solidFill>
              </a:rPr>
              <a:t>Mercury (NZX 472609)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171A"/>
                </a:solidFill>
              </a:rPr>
              <a:t>Up to 5 TWh options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4171A"/>
                </a:solidFill>
              </a:rPr>
              <a:t>2.5 TWh active development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4171A"/>
                </a:solidFill>
              </a:rPr>
              <a:t>1 TWh Ngā Tamariki + Rotokawa entering feasibility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4171A"/>
                </a:solidFill>
              </a:rPr>
              <a:t>NZ$75m appraisal drilling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4171A"/>
                </a:solidFill>
              </a:rPr>
              <a:t>First generation 2030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1C1C"/>
                </a:solidFill>
              </a:rPr>
              <a:t>Contact–Microsoft is attributes, not physical supply.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52578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5394960"/>
            <a:ext cx="1110996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Any NZ plan that needs geothermal electrons before 2030 must source them from existing stations, not this pipeline. Physical, behind-the-meter, wellhead supply is a product nobody in New Zealand is currently selling.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9 / 27</a:t>
            </a:r>
          </a:p>
        </p:txBody>
      </p:sp>
    </p:spTree>
    <p:extLst>
      <p:ext uri="{BB962C8B-B14F-4D97-AF65-F5344CB8AC3E}">
        <p14:creationId xmlns:p14="http://schemas.microsoft.com/office/powerpoint/2010/main" val="306219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Legals are on the critical path, unpriced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Clocks are scenario branches. Zeros in the model are RATE_MISSING — unpriced, not cheap.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97280"/>
            <a:ext cx="5623560" cy="3794760"/>
          </a:xfrm>
          <a:prstGeom prst="roundRect">
            <a:avLst>
              <a:gd name="adj" fmla="val 8000"/>
            </a:avLst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5303520" cy="3520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B45309"/>
                </a:solidFill>
              </a:rPr>
              <a:t>Australia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71A"/>
                </a:solidFill>
              </a:rPr>
              <a:t>Federal RTN: 6-month s35 floor.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4171A"/>
                </a:solidFill>
              </a:rPr>
              <a:t>Separate s32 4-month expedited-procedure branch. Do not schedule 4 months as the negotiated minimum.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4171A"/>
                </a:solidFill>
              </a:rPr>
              <a:t>Unresolved whether a geothermal licence is an NTA “right to mine”. The 6-month clock is not an established geothermal default until counsel answers that.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71A"/>
                </a:solidFill>
              </a:rPr>
              <a:t>Conjunctive ILUA is the load-bearing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23560" cy="3794760"/>
          </a:xfrm>
          <a:prstGeom prst="roundRect">
            <a:avLst>
              <a:gd name="adj" fmla="val 8000"/>
            </a:avLst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61872"/>
            <a:ext cx="5303520" cy="3520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D4ED8"/>
                </a:solidFill>
              </a:rPr>
              <a:t>New Zealand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71A"/>
                </a:solidFill>
              </a:rPr>
              <a:t>Iwi partnership, not freehold.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4171A"/>
                </a:solidFill>
              </a:rPr>
              <a:t>Fast-track exists. Archegon is not on Schedule 2 — referral is discretionary, and it adds 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There is no published cost for concluding the AU native title instrument. NZ grid + fibre are likewise unpriced.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5047488"/>
            <a:ext cx="11430000" cy="1353312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5193792"/>
            <a:ext cx="1110996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1C1C"/>
                </a:solidFill>
              </a:rPr>
              <a:t>Model land + legals = A$0  ·  RATE_MISSING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Ships at zero and is labelled unpriced. Resolving land, AU/NZ legals, and NZ grid+fibre can only move the floor up. It is not a free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10 / 27</a:t>
            </a:r>
          </a:p>
        </p:txBody>
      </p:sp>
    </p:spTree>
    <p:extLst>
      <p:ext uri="{BB962C8B-B14F-4D97-AF65-F5344CB8AC3E}">
        <p14:creationId xmlns:p14="http://schemas.microsoft.com/office/powerpoint/2010/main" val="309820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Energy is ~7% of TCO for a GPU owner, not for a landlord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Modelled 1 GW stack (compute-economics-03, DERIVED) assumes the operator owns the GPUs. Under COLO the tenant does.</a:t>
            </a:r>
          </a:p>
        </p:txBody>
      </p:sp>
      <p:pic>
        <p:nvPicPr>
          <p:cNvPr id="7" name="Picture 6" descr="05-energy-share-t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56" y="1042415"/>
            <a:ext cx="740195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" y="525780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1110996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Under COLO our costs are the shell and the power system, and the power system costs ~98% of colo revenue at 8% (slide 18). A premium for firm, carbon-free power is unproven until tenant LOIs price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11 / 27</a:t>
            </a:r>
          </a:p>
        </p:txBody>
      </p:sp>
    </p:spTree>
    <p:extLst>
      <p:ext uri="{BB962C8B-B14F-4D97-AF65-F5344CB8AC3E}">
        <p14:creationId xmlns:p14="http://schemas.microsoft.com/office/powerpoint/2010/main" val="365402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AU: compute is the biggest block; wells carry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Model at current settings: Route AU, COLO, BASE/BASE, LIQUID, remote ON, 5.0 MW IT, PUE 1.25, 25% contingency, 90% CF.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384048"/>
          </a:xfrm>
          <a:prstGeom prst="roundRect">
            <a:avLst>
              <a:gd name="adj" fmla="val 8000"/>
            </a:avLst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06070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</a:rPr>
              <a:t>AU floor  A$301.2m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60704"/>
            <a:ext cx="3703320" cy="384048"/>
          </a:xfrm>
          <a:prstGeom prst="roundRect">
            <a:avLst>
              <a:gd name="adj" fmla="val 8000"/>
            </a:avLst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06070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</a:rPr>
              <a:t>NZ floor  A$127.2m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060704"/>
            <a:ext cx="3767328" cy="384048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1" y="1060704"/>
            <a:ext cx="37673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1C1C"/>
                </a:solidFill>
              </a:rPr>
              <a:t>Zeros = RATE_MISSING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700784"/>
            <a:ext cx="3456432" cy="4206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45309"/>
                </a:solidFill>
              </a:rPr>
              <a:t>AU  ·  DERIVED / FLOOR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4171A"/>
                </a:solidFill>
              </a:rPr>
              <a:t>Wells: 2 producers + 2 injectors = 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4171A"/>
                </a:solidFill>
              </a:rPr>
              <a:t>Net nameplate: 6.94 MW (5 × 1.25 PUE ÷ 0.90 CF) · 6.25 MW average, not firm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1">
                <a:solidFill>
                  <a:srgbClr val="4B5563"/>
                </a:solidFill>
              </a:rPr>
              <a:t>Well ratings are NET (parasitic inside). Compute A$132.3m = 55% of pre-contingency capex; wells + mob 29%.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4171A"/>
                </a:solidFill>
              </a:rPr>
              <a:t>Infra (wells+mob+plant): A$108.6m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4171A"/>
                </a:solidFill>
              </a:rPr>
              <a:t>Compute (shell+liquid, remote on): A$132.3m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B91C1C"/>
                </a:solidFill>
              </a:rPr>
              <a:t>Land / legals: A$0  RATE_MISSING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</a:rPr>
              <a:t>NZ  ·  FLOOR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4171A"/>
                </a:solidFill>
              </a:rPr>
              <a:t>Compute: A$101.8m + A$25.4m contingency = A$127.2m (NZ$157.3m)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1C1C"/>
                </a:solidFill>
              </a:rPr>
              <a:t>Infra / land / legals: A$0  RATE_MISSING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71A"/>
                </a:solidFill>
              </a:rPr>
              <a:t>COLO tenant pays IT fit-out.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12 / 27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941436" y="1481328"/>
          <a:ext cx="630100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70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The derived raise is a floor, and it is not repaid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AU capex + A$6.0m 24-month runway. Grants sit beside the raise, never netted.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097280"/>
            <a:ext cx="3749039" cy="498348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243584"/>
            <a:ext cx="3456432" cy="4709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</a:rPr>
              <a:t>AU derived raise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4171A"/>
                </a:solidFill>
              </a:rPr>
              <a:t>A$348.5m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14171A"/>
                </a:solidFill>
              </a:rPr>
              <a:t>US$248.2m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1" i="0">
                <a:solidFill>
                  <a:srgbClr val="B45309"/>
                </a:solidFill>
              </a:rPr>
              <a:t>FLOOR  ·  includes A$6.0m runway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0" i="0">
                <a:solidFill>
                  <a:srgbClr val="4B5563"/>
                </a:solidFill>
              </a:rPr>
              <a:t>Converted at model FX 0.7122 (geothermal-capex-71) — the rate all workbook money uses.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8A04"/>
                </a:solidFill>
              </a:rPr>
              <a:t>Offsets, not cash in hand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ARENA Launchpad / NZ RIF named as offsets. No grant dollar is treated as in-hand. Contribution A$10.1m/yr = 2.9% of the raise; 25 years of it (A$251.6m) does not repay A$348.5m.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13 / 27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82880" y="1150610"/>
          <a:ext cx="7618120" cy="4658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71631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COLO covers opex; it does not repay the 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No power-only fallback on the islanded AU route (A$0 without a grid tie). ANCHOR comps are ~400 MW hyperscale leases: reference only. BAREMETAL unpriced.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097280"/>
            <a:ext cx="3749039" cy="4983480"/>
          </a:xfrm>
          <a:prstGeom prst="roundRect">
            <a:avLst>
              <a:gd name="adj" fmla="val 8000"/>
            </a:avLst>
          </a:prstGeom>
          <a:solidFill>
            <a:srgbClr val="F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261872"/>
            <a:ext cx="3456432" cy="4709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D28D9"/>
                </a:solidFill>
              </a:rPr>
              <a:t>COLO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14171A"/>
                </a:solidFill>
              </a:rPr>
              <a:t>A$14.5m/yr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6B5F"/>
                </a:solidFill>
              </a:rPr>
              <a:t>ANCHOR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14171A"/>
                </a:solidFill>
              </a:rPr>
              <a:t>A$16.6m/yr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91C1C"/>
                </a:solidFill>
              </a:rPr>
              <a:t>BAREMETAL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91C1C"/>
                </a:solidFill>
              </a:rPr>
              <a:t>unpriced  ·  A$0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B7280"/>
                </a:solidFill>
              </a:rPr>
              <a:t>COLO contribution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4171A"/>
                </a:solidFill>
              </a:rPr>
              <a:t>A$10.1m/yr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before debt service · opex A$4.5m/yr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14 / 27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760966" y="1142416"/>
          <a:ext cx="6698488" cy="46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2809556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One meaning per word: net, gross, average,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v3 fixes the net/gross mix-up. Every MWe-per-producer figure is NET at the plant fence.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15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50000"/>
          <a:ext cx="1143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486400"/>
                <a:gridCol w="4343400"/>
              </a:tblGrid>
              <a:tr h="3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Reference case (5 MW IT)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Generator-terminal output, before the plant's own load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not modelled directly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Parasitic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Injection pumps, ORC feed pumps, condenser fans,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EIA 13.8% · EGS stress ~29% (GeoExpro-derived)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Net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Gross − parasitic = delivered to the site board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6.94 MW nameplate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Net nameplate × 0.90 capacity factor (annual energy)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6.25 MW = facility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Firm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Guaranteed every hour with one element out (N-1)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5.0 MW today (one producer out), no backup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Facility /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IT × PUE 1.25 (ASSUMPTION) / power to racks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6.25 MW / 5.0 MW in four 1.25 MW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4000000"/>
            <a:ext cx="1143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Arial"/>
              </a:rPr>
              <a:t>v2 labelled HIGH (13 MWe) "gross" and LOW/BASE "net", and called the 6.25 MW average "firm". Both are corrected in the model, deck, diagrams and site.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What flow does 5 MWe net per producer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Screening calc (exergy × 40–50% utilisation × (1 − 13.8–29% parasitic)). Not a reservoir forecast.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16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00000"/>
          <a:ext cx="5599999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959999"/>
                <a:gridCol w="2240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Production temp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Flow for 5 MWe net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169 °C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104–158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Fervo Project Red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200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74–112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Habanero earlier trial (~200 degC)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215 °C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64–97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Habanero 4 wellhead, 2013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220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61–93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240 °C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52–79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00000" y="1100000"/>
          <a:ext cx="5614047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090"/>
                <a:gridCol w="2975445"/>
                <a:gridCol w="1403512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Measured flow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Net MWe @215 °C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19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Habanero best sustained closed loop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1.0–1.5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39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Habanero 4 open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2.0–3.0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36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Fervo Red sustained average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1.9–2.8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63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Fervo Red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3.2–4.9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107 kg/s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Fervo Cape 30-day max, Sep 2024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5.5–8.3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4048" y="3500000"/>
            <a:ext cx="1143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171A"/>
                </a:solidFill>
                <a:latin typeface="Arial"/>
              </a:rPr>
              <a:t>Habanero's best sustained loop (19 kg/s) supports ~1.0–1.5 MWe net. BASE needs 3.4–5.4× that. At 1.4 MWe/producer the reference needs 10 wells and A$431.0m; at 2 MWe, 8 wells and A$389.7m; doublet vs triplet adds 50% more wells.</a:t>
            </a:r>
          </a:p>
          <a:p>
            <a:r>
              <a:rPr sz="1300">
                <a:solidFill>
                  <a:srgbClr val="14171A"/>
                </a:solidFill>
                <a:latin typeface="Arial"/>
              </a:rPr>
              <a:t>NEEDS SITE DATA: a reservoir engineer's sustainable rate, temperature and injectivity; Habanero tracer/injectivity data; ORC vendor curve.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Average power is not firm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Islanded, the 10% of hours a 0.90 capacity factor leaves uncovered are outages unless something else is on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17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00000"/>
          <a:ext cx="1143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858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Average net at fence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6.25 MW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Firm with one producer out (N-1)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5.0 MW → 4.0 MW IT → 3 whole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Hours not covered at 90% CF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876 h/yr (5,475 MWh)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Diesel to cover them (illustrative)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~1.42 million litres/yr; price unpriced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N-1 on producers (3rd doublet)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+A$41.25m → raise A$389.7m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BESS, standby gen, black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Public proxy (GenCost 2025-26): ~A$23.7m incl. contingency; not in the raise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Hot day (40 °C+), air-cooled ORC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Derate RATE_MISSING; at an illustrative 20% loss 3 modules stay lit, 2 with one producer out (Firm-Power D31:D34 corrected 13 Oct)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Wells 20%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8 MWe still covers 6.94 MW: no change. Supply falls only below 3.47 MWe/producer (31% 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4300000"/>
            <a:ext cx="1143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91C1C"/>
                </a:solidFill>
                <a:latin typeface="Arial"/>
              </a:rPr>
              <a:t>Base case has zero margin: four modules draw 6.25 MW against 6.25 MW average. Module 4 is sold as interruptible unless backup is bought.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Two businesses: price the power as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PowerCo (wells + ORC) sells to DCCo (the hall) at a transfer price = its levelised cost. WACC is an ASSUMPTION.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18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00000"/>
          <a:ext cx="62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1116000"/>
                <a:gridCol w="1364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PowerCo levelised cost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A$/MWh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Capital + O&amp;M, A$m/yr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Low (6%, 25 yrs)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15.3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BASE (Rates wacc_base) (8%, 25 yrs)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High (10%, 25 yrs)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383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Stress check (10%, 20 yrs)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At Habanero 4 actual well cost (8%)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553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SA wholesale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00000" y="1100000"/>
          <a:ext cx="5014048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0536"/>
                <a:gridCol w="1253512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DCCo (the hall)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A$m/yr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Colo revenue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14.53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Power at transfer price (8%)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−18.05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DC opex (RATE_MISSING)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DCCo before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-3.52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Consolidated contribution (capital uncharged)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10.06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Power-only fallback, islanded 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…if a grid tie existed (unpriced) at SA wholesale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4.82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4048" y="4300000"/>
            <a:ext cx="114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171A"/>
                </a:solidFill>
                <a:latin typeface="Arial"/>
              </a:rPr>
              <a:t>The power system costs ~124% of colo revenue at 8%. With free power the hall yields 8.8% on its own build cost. A 10% contribution yield on the raise needs ~US$467/kW/month (2.4× the benchmark).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On our own numbers, NZ beats 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AU-first must be argued as an option on a reservoir, not implied by slide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19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00000"/>
          <a:ext cx="1143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429000"/>
                <a:gridCol w="3429000"/>
              </a:tblGrid>
              <a:tr h="30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Australia (drill)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New Zealand (contract)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Raise, A$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A$348.5m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A$133.2m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Revenue (colo), A$/yr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A$14.5m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A$14.5m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Energy / plant cost, A$/yr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A$1.5m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A$4.6m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Contribution, A$/yr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A$10.1m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A$6.9m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Contribution / raise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2.9%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5.2%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Drilling risk carried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Yes (4 wells)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What Archegon owns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 reservoir (option value)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Arial"/>
                        </a:rPr>
                        <a:t>A contract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4000000"/>
            <a:ext cx="114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4171A"/>
                </a:solidFill>
                <a:latin typeface="Arial"/>
              </a:rPr>
              <a:t>NZ power is priced off ONE week of spot (NZ$105/MWh, 17–23 May 2026). NZ stays ahead unless contracted power exceeds ~NZ$174/MWh. Needs: an indicative 15–20 yr PPA quote, checked against ASX NZ futures.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Reservoir first: a gated plan with pass/fail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Each gate is its own decision. No hall until the reservoir passes.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20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050000"/>
          <a:ext cx="11430000" cy="4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3771900"/>
                <a:gridCol w="1600200"/>
                <a:gridCol w="4343400"/>
              </a:tblGrid>
              <a:tr h="78333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Buys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Capital (model rates)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Pass if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783333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0 - SEED (US$10m)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Tranched seed: engineers/viability, lawyers/government, DC procurement, financing, itemised runway, buffer; Tranche 3 pre-buys Gate 1 long-lead items. See Seed tab.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A$4.2m–A$14.0m (public proxy)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Signed reservoir-engineer case for flow, temperature, injectivity; AFE in 2027 A$; principal named; LOI with price and energy terms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783333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1a - appraisal well (option)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One deep well: temperature, stress, image logs, injectivity. Cheaper than a doublet.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A$31.6m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Temperature &gt;= target; stress regime and fracture orientation compatible with the lateral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333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1 - RESERVOIR TEST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One doublet + 90-180 day circulation test. No plant, no hall.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A$69.2m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v4: incl. stimulation of both wells; less seed Tranche 3 pre-buys; grossed up for the 6% success fee so the test is fully funded.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783333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2 - first whole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Plant sized to MEASURED flow + one 1.25 MW module, signed 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A$105.7m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Metered net power; PUE; tenant paying; N-1 design costed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3335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3 - 5 MW reference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Scale to 4 modules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A$348.5m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Gate 2 performance holds; firm-power cover priced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Rent the hall, or sell compute?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Selling GPU-hours earns far more per MW, but needs ~A$287m of GPUs per 5 MW and carries GPU price risk. Inputs are PUBLIC PROXIES.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21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100000"/>
          <a:ext cx="1143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85900"/>
                <a:gridCol w="1485900"/>
                <a:gridCol w="1485900"/>
                <a:gridCol w="1485900"/>
                <a:gridCol w="18288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5 MW reference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Total capital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Revenue yr 1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EBITDA yr 1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EBITDA ÷ capital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25-yr IRR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AU rent (colo)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A$348.5m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A$14.5m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A$10.1m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2.9%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-2.4%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AU sell compute, prices fall ~25%/yr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A$645.0m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A$132.7m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A$87.8m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AU sell compute, flat prices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A$645.0m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A$132.7m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A$87.8m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13.6%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4.1%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NZ sell compute, flat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A$421.2m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A$132.7m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A$85.9m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20.4%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AU downside: 47% util, remote −20%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A$645.0m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A$71.3m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A$26.3m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4.1%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3420000"/>
            <a:ext cx="1143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71A"/>
                </a:solidFill>
                <a:latin typeface="Arial"/>
              </a:rPr>
              <a:t>Inputs (PUBLIC PROXY): 8-GPU B200 server ~US$450k, 14.3 kW (Mercatus 2026; NVIDIA); network/storage +30%; maintenance 10%/yr; ops 5 FTE per 512 GPUs at US$275k (GPUaaS.com TCO, Jun 2026). Price US$5.52/GPU-h = 1-yr reserved, derived from the B200 on-demand median US$6.99 less 21% (gpueconomy.com, 12 Oct 2026; AI Industry Reviews, Sep 2026). Utilisation 70%. GPUs replaced every 5 years.</a:t>
            </a:r>
          </a:p>
          <a:p>
            <a:r>
              <a:rPr sz="1100">
                <a:solidFill>
                  <a:srgbClr val="14171A"/>
                </a:solidFill>
                <a:latin typeface="Arial"/>
              </a:rPr>
              <a:t>Downside is real: if B200 prices follow the H100 path (−25%/yr), the fleet never repays. With flat prices: AU 4.1%, NZ 8.5%.</a:t>
            </a:r>
          </a:p>
          <a:p>
            <a:r>
              <a:rPr sz="1100">
                <a:solidFill>
                  <a:srgbClr val="14171A"/>
                </a:solidFill>
                <a:latin typeface="Arial"/>
              </a:rPr>
              <a:t>Connectivity (PUBLIC PROXY, Connectivity tab): figures include fibre Innamincka–Moomba, ~79 km at A$125k/km = A$9.9m plus A$1.3m/yr. One satellite terminal (~50 Mbps) cannot carry the cluster. Bonded satellite: 385 terminals and ~A$26m/yr of priority data for a 10 Gbps training load (AU flat return becomes negative). It cannot carry ~280 Gbps of inference: one cell is licensed for ~20 Gbps. A future 10 Gbps gateway costs ~A$12.6m/yr (Connectivity row 50). Moomba access is unconfirmed; the Lyndhurst fallback is ~A$55m.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US$10m seed: sources, uses and staged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US$10m = A$14.04m at the model FX (0.7122 US$/A$). Rates are PUBLIC PROXIES or labelled ASSUMPTIONS (Seed tab). Illustrative, not an offer.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22 / 27</a:t>
            </a:r>
          </a:p>
        </p:txBody>
      </p:sp>
      <p:pic>
        <p:nvPicPr>
          <p:cNvPr id="15" name="Picture 14" descr="seed-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00000"/>
            <a:ext cx="6900000" cy="402500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50000" y="1000000"/>
          <a:ext cx="4364047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888"/>
                <a:gridCol w="2312945"/>
                <a:gridCol w="654607"/>
                <a:gridCol w="654607"/>
              </a:tblGrid>
              <a:tr h="3833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Tranche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Released when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A$m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US$m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T1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At close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1.87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1.33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G1 resource case and G4 priced LOI both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3.13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2.23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G2 cost, G3 tenure/licence, G5 connectivity pass and G6 Gate 1 lead soft-circled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7.80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5.55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Board release against overruns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3335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14.04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10.00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50000" y="3500000"/>
            <a:ext cx="4364048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4171A"/>
                </a:solidFill>
                <a:latin typeface="Arial"/>
              </a:rPr>
              <a:t>G4 kill test (10% hurdle, ASSUMPTION): a priced LOI must clear colo US$509/kW/month (benchmark US$172.5) or compute US$6.66/GPU-h flat (base US$5.52).</a:t>
            </a:r>
          </a:p>
          <a:p>
            <a:r>
              <a:rPr sz="1000">
                <a:solidFill>
                  <a:srgbClr val="14171A"/>
                </a:solidFill>
                <a:latin typeface="Arial"/>
              </a:rPr>
              <a:t>Gate 1 round: A$69.23m incl. stimulation, net of T3 long-lead items, grossed up for a 6% success fee (A$4.15m).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000000"/>
            <a:ext cx="1143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4171A"/>
                </a:solidFill>
                <a:latin typeface="Arial"/>
              </a:rPr>
              <a:t>Runway is itemised (team, travel, office, insurance, data purchase) on the Seed tab, not a plug. T3 pre-buys Gate 1 long-lead items (seismic baseline, water bore, casing, wellheads, rig slot) and cuts the Gate 1 round 1:1.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EGS short-seller claims: how our gates test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Allegations by a short seller (Morpheus Research, 6 Oct 2026), disputed by Fervo. We treat them as risks to test, not as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23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000000"/>
          <a:ext cx="11429999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5715000"/>
                <a:gridCol w="4000499"/>
              </a:tblGrid>
              <a:tr h="30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Risk raised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What is claimed / known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Gate 1 limit (GO / NO-GO)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Thermal decline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Project Red: stable 500+ days, then -2.5 degF (1.4 °C) in 100 days, ~5 °C/yr if extrapolated. Fervo: expected for tight pilot spacing.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GO: forecast &lt;= 1.0 °C/yr from tracer test + calibrated model; NO-GO &gt;= 5 °C/yr. 12-month circulation record before Gate 2.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Fluid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Alleged ~30% vs &lt;1% claimed. History: Fenton Hill 7%, Rosemanowes ~20%, Habanero 2013 ~0%.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GO &lt;= 1%; NO-GO &gt;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Induced seismicity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Alleged 58+ Yellow events at Cape. Fervo cites a positive independent protocol review (Aug 2026).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Traffic light agreed with the SA regulator; receptor-based Red set below Habanero ML 3.7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Flow /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Cape 24 h flow fell 97 to 93 kg/s; analysts estimate 4.8 MW net vs 8-10 MW claimed.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GO &gt;= 5 MWe net per producer; NO-GO &lt; 3.47; pumping &lt;= 10% of gross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Disclosure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Alleged altered data (incl. a hidden ~90 °F drop at Project Red). Fervo has not yet answered point by point (checked 19 Oct 2026). An independent blog (Tidal Wave Technologies, 16 Oct; not Fervo) says the drop is a monthly average of shut-in readings in March 2024, but concedes a real cooling event that Fervo did not explain.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Test data verified by an independent engineer within 60 days; raw time series, with shut-ins flagged, published to investors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Eavor Geretsried (closed loop, Germany)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First power late 2025, then only 0.5-2.0 MWe gross and almost nothing delivered to the grid. Both rigs withdrawn (16 Oct 2026) and Loop 2 on hold while a firm heat offtake is renegotiated (ThinkGeoEnergy).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Modules are energised one at a time against measured output (Gate 2 sizes the plant to measured flow); no hall build before the offtake price is priced (G4)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5300000"/>
            <a:ext cx="114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4171A"/>
                </a:solidFill>
                <a:latin typeface="Arial"/>
              </a:rPr>
              <a:t>Fluid make-up (Water tab): 1% loss = 36 ML/yr; 30% = 1,094 ML/yr and 8 bores (A$300k each, PUBLIC PROXY). Licensed supply, not price, is the constraint. Sources: Morpheus Research (6 Oct); Tidal Wave Technologies blog (16 Oct); ThinkGeoEnergy (16 Oct).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Decline: the well margin absorbs up to ~1 °C/yr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Wells deliver 3.06 MW more than the plant can use. Each 1% fall in temperature costs ~2.7% of net power (exergy). Decline tab.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24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000000"/>
          <a:ext cx="1143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914400"/>
                <a:gridCol w="1600200"/>
                <a:gridCol w="1143000"/>
                <a:gridCol w="2286000"/>
                <a:gridCol w="1600200"/>
              </a:tblGrid>
              <a:tr h="3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Decline case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°C/yr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First dark yr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Lit yr 25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Compute flat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 net cash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SELECTED (headline)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0.83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none in 25 yrs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4.1% / A$403m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A$-97m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EGS target 0.65 °C/yr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none in 25 yrs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4.1% / A$403m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A$-97m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Conventional wells 0.83 °C/yr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0.83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none in 25 yrs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4.1% / A$403m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A$-97m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Intermediate 2.0 °C/yr (ASSUMPTION)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2.3% / A$172m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A$-155m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Project Red reading 5.0 °C/yr (disputed)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5.00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 / A$-285m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A$-304m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EGS base case 6.45 °C/yr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 / A$-328m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A$-344m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Stress 10 °C/yr (ASSUMPTION)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10.00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 / A$-490m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A$-380m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3550000"/>
          <a:ext cx="1143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Decline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(a) Extra doublets up front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(b) Make-up doublets on trend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(c) Fewer modules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Intermediate 2.0 °C/yr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+A$123.8m: 2.5% / A$279m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+A$66.9m: 3.5% / A$336m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saves A$226m: 0.6% / A$33m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Project Red reading 5.0 °C/yr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not 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+A$267.5m: 1.5% / A$135m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saves A$452m: never repays / A$-337m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EGS base case 6.45 °C/yr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not feasible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+A$468.1m: never repays / A$-65m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saves A$452m: never repays / A$-337m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Stress 10 °C/yr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not 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+A$869.4m: never repays / A$-467m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saves A$452m: never repays / A$-337m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4048" y="5250000"/>
            <a:ext cx="114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4171A"/>
                </a:solidFill>
                <a:latin typeface="Arial"/>
              </a:rPr>
              <a:t>Headroom (Headroom tab): AU compute, flat prices, 25-yr IRR / net cash. Make-up doublets drilled on a monitored trend win up to 6.45 °C/yr; at 10 °C/yr building fewer modules loses least. Stimulation (A$8.25m/well) is now in the raise.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Full programme cost and a grid-connected comparator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</a:rPr>
              <a:t>What the 5 MW reference really costs with N-1, firm cover and fees, and what the same hall earns on a metro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25 / 27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1000000"/>
          <a:ext cx="56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1400000"/>
              </a:tblGrid>
              <a:tr h="3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A$m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Headline raise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348.5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N-1 producers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61.9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N-1 plant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15.4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Transformer and switchgear N-1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0 (RATE_MISSING)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Firm cover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23.7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Success fee on the Gate 1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Seed (US$10m)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14.0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FULL PROGRAMME, A$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467.6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Extra capital over the headline raise, A$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119.2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00000" y="1000000"/>
          <a:ext cx="5614046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462"/>
                <a:gridCol w="1010528"/>
                <a:gridCol w="1010528"/>
                <a:gridCol w="1010528"/>
              </a:tblGrid>
              <a:tr h="3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Capital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IRR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Net cash</a:t>
                      </a:r>
                    </a:p>
                  </a:txBody>
                  <a:tcPr>
                    <a:solidFill>
                      <a:srgbClr val="0D6B5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Metro colo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A$134m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A$-81m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Metro compute, flat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A$421m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A$461m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Metro compute, falling prices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A$421m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A$-843m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AU full programme, Colo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AU full programme, Compute flat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2.5%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6F7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AU full programme, Compute falling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never repays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4048" y="4300000"/>
            <a:ext cx="1143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71A"/>
                </a:solidFill>
                <a:latin typeface="Arial"/>
              </a:rPr>
              <a:t>Metro grid at A$171.9/MWh delivered (Metro-Grid tab; SAPN HV tariffs + wholesale, PUBLIC PROXY), 15-month connection lead time. On our own numbers a metro hall selling compute beats the geothermal route; the geothermal case rests on power scarcity, not cost.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14171A"/>
                </a:solidFill>
              </a:rPr>
              <a:t>What we </a:t>
            </a:r>
            <a:r>
              <a:rPr lang="en-GB" sz="2600" b="1" i="0" dirty="0">
                <a:solidFill>
                  <a:srgbClr val="14171A"/>
                </a:solidFill>
              </a:rPr>
              <a:t>cannot promise</a:t>
            </a:r>
            <a:endParaRPr sz="2600" b="1" i="0" dirty="0">
              <a:solidFill>
                <a:srgbClr val="14171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Parked CONTESTED class. Estimates stay estimates. Retractions stay retracted.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5214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GPU-hour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2646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Parked CONTESTED. BAREMETAL revenue is A$0 because the rates are unpriced, not because the product earns nothing.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94767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194767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2082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NZ generation-share figures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Several NZ generation-share numbers are parked CONTESTED. They are not on this deck and not in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81635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281635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88950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Remote-site loading handbook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6382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Parked CONTESTED. Remote-site loading is a Control toggle, not a verified handbook figure on this slide.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68503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368503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5818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Fervo US$/kW: 7,000 → 5,500 → 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3250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Overnight first-project cost (S-1/A filed 4 May 2026), Phase II all-in expectation (12 Aug 2026), long-term target. GeoBlock 1 runs at 33 MW net; no as-built US$/kW disclosed.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55371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455371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62686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Mercury capacity invitation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0118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Mercury has no 600 MW invitation. Disclosed pipeline is TWh options on a 2030 clock.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22392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5422392"/>
            <a:ext cx="91440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495544"/>
            <a:ext cx="1101852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1C1C"/>
                </a:solidFill>
              </a:rPr>
              <a:t>Crusoe 4.9 GW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9864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71A"/>
                </a:solidFill>
              </a:rPr>
              <a:t>Contracted capacity, not revenue. Pipeline is not contract.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26 / 27</a:t>
            </a:r>
          </a:p>
        </p:txBody>
      </p:sp>
    </p:spTree>
    <p:extLst>
      <p:ext uri="{BB962C8B-B14F-4D97-AF65-F5344CB8AC3E}">
        <p14:creationId xmlns:p14="http://schemas.microsoft.com/office/powerpoint/2010/main" val="1881807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1440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171A"/>
                </a:solidFill>
              </a:rPr>
              <a:t>Ask /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16459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6B5F"/>
                </a:solidFill>
              </a:rPr>
              <a:t>ARCHEGON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430000" cy="14604"/>
          </a:xfrm>
          <a:prstGeom prst="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Qualify the investor first. No priced round on this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15568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E7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11109960" cy="9601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6B5F"/>
                </a:solidFill>
              </a:rPr>
              <a:t>A US$10m seed buys the viability work; the next round is a reservoir test.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A"/>
                </a:solidFill>
              </a:rPr>
              <a:t>Seed: resource case, well AFE, named principal, tenure and native title, water licence, priced LOI, financing advisers (Seed tab). Gate 1: one doublet + 90–180 day circulation test, A$69.2m incl. stimulation and fee, net of seed long-lead items. No hall until the reservoir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603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171A"/>
                </a:solidFill>
              </a:rPr>
              <a:t>Named geothermal principal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Someone who has drilled or operated hot rock, not a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25603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2706624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10896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171A"/>
                </a:solidFill>
              </a:rPr>
              <a:t>Generator term sheet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Physical offtake or wellhead co-location — not certificates.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5603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706624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10896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171A"/>
                </a:solidFill>
              </a:rPr>
              <a:t>ARENA Launchpad application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Non-dilutive parallel path. Named as an application, not as cash.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2560320"/>
            <a:ext cx="2788920" cy="278892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4" y="2706624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6B5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3108960"/>
            <a:ext cx="2468880" cy="2011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171A"/>
                </a:solidFill>
              </a:rPr>
              <a:t>Iwi / GEL path scoping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</a:rPr>
              <a:t>NZ partnership and AU tenure are critical-path, unpriced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532120"/>
            <a:ext cx="2926080" cy="384048"/>
          </a:xfrm>
          <a:prstGeom prst="roundRect">
            <a:avLst>
              <a:gd name="adj" fmla="val 8000"/>
            </a:avLst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5532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1C1C"/>
                </a:solidFill>
              </a:rPr>
              <a:t>Not a priced round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5532120"/>
            <a:ext cx="4023360" cy="384048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6432" y="55321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171A"/>
                </a:solidFill>
              </a:rPr>
              <a:t>Seed milestones, not a 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57784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6B5F"/>
                </a:solidFill>
              </a:rPr>
              <a:t>archegon.com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6539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Archegon · sourced or labelled figures · illustrative, not an offer · October 2026 · v3 · Model FX A$→US$ 0.7122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5653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846381608"/>
      </p:ext>
    </p:extLst>
  </p:cSld>
  <p:clrMapOvr>
    <a:masterClrMapping/>
  </p:clrMapOvr>
</p:sld>
</file>

<file path=ppt/theme/theme1.xml><?xml version="1.0" encoding="utf-8"?>
<a:theme xmlns:a="http://schemas.openxmlformats.org/drawingml/2006/main" name="Archegon">
  <a:themeElements>
    <a:clrScheme name="Archegon">
      <a:dk1>
        <a:sysClr val="windowText" lastClr="000000"/>
      </a:dk1>
      <a:lt1>
        <a:sysClr val="window" lastClr="FFFFFF"/>
      </a:lt1>
      <a:dk2>
        <a:srgbClr val="14171A"/>
      </a:dk2>
      <a:lt2>
        <a:srgbClr val="F4F5F6"/>
      </a:lt2>
      <a:accent1>
        <a:srgbClr val="0D6B5F"/>
      </a:accent1>
      <a:accent2>
        <a:srgbClr val="B45309"/>
      </a:accent2>
      <a:accent3>
        <a:srgbClr val="1D4ED8"/>
      </a:accent3>
      <a:accent4>
        <a:srgbClr val="6D28D9"/>
      </a:accent4>
      <a:accent5>
        <a:srgbClr val="B91C1C"/>
      </a:accent5>
      <a:accent6>
        <a:srgbClr val="CA8A04"/>
      </a:accent6>
      <a:hlink>
        <a:srgbClr val="0D6B5F"/>
      </a:hlink>
      <a:folHlink>
        <a:srgbClr val="6B7280"/>
      </a:folHlink>
    </a:clrScheme>
    <a:fontScheme name="Archego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3585</TotalTime>
  <Words>2140</Words>
  <Application>Microsoft Macintosh PowerPoint</Application>
  <PresentationFormat>Widescreen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Archegon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Archegon deck v3 (public)</dc:title>
  <dc:subject/>
  <dc:creator/>
  <cp:keywords/>
  <dc:description/>
  <cp:lastModifiedBy/>
  <cp:revision>1</cp:revision>
  <dcterms:created xsi:type="dcterms:W3CDTF">2026-10-12T00:00:00Z</dcterms:created>
  <dcterms:modified xsi:type="dcterms:W3CDTF">2026-10-12T00:00:00Z</dcterms:modified>
  <cp:category/>
  <dc:identifier/>
  <cp:contentStatus/>
</cp:coreProperties>
</file>